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0"/>
            <a:ext cx="548640" cy="73152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15C2E"/>
                </a:solidFill>
                <a:latin typeface="Roboto Slab"/>
              </a:rPr>
              <a:t>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Roboto Slab"/>
              </a:rPr>
              <a:t>AIPP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Roboto Slab"/>
              </a:rPr>
              <a:t>Design and Implementation of an Automated Multi-Cloud CI/CD Pipeline Generation and Deployment Orchestration Platform for DevSecOps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CD3E0"/>
                </a:solidFill>
                <a:latin typeface="Roboto Slab"/>
              </a:rPr>
              <a:t>Presented by:  [Your Name]     •     Programme:  [Your Programme]     •     Supervisor:  [Name]     •     Date:  [DD-MM-YYYY]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31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15C2E"/>
                </a:solidFill>
                <a:latin typeface="Roboto Slab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Roboto Slab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2880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Roboto Slab"/>
              </a:rPr>
              <a:t>Background  •  Current status  •  Why this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731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15C2E"/>
                </a:solidFill>
                <a:latin typeface="Roboto Slab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7160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Roboto Slab"/>
              </a:rPr>
              <a:t>Literature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Roboto Slab"/>
              </a:rPr>
              <a:t>Seminal works  •  Summary  •  Research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731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15C2E"/>
                </a:solidFill>
                <a:latin typeface="Roboto Slab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603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Roboto Slab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1752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Roboto Slab"/>
              </a:rPr>
              <a:t>Technical / Functional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731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15C2E"/>
                </a:solidFill>
                <a:latin typeface="Roboto Slab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6032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Roboto Slab"/>
              </a:rPr>
              <a:t>Project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01752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Roboto Slab"/>
              </a:rPr>
              <a:t>Primary &amp; Secondary  •  Expected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49039"/>
            <a:ext cx="731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15C2E"/>
                </a:solidFill>
                <a:latin typeface="Roboto Slab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49039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Roboto Slab"/>
              </a:rPr>
              <a:t>Project 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06239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Roboto Slab"/>
              </a:rPr>
              <a:t>Conceptual framework  •  Research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49039"/>
            <a:ext cx="731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15C2E"/>
                </a:solidFill>
                <a:latin typeface="Roboto Slab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749039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Roboto Slab"/>
              </a:rPr>
              <a:t>Proposed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06239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Roboto Slab"/>
              </a:rPr>
              <a:t>Solution approach  •  Expected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37760"/>
            <a:ext cx="731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15C2E"/>
                </a:solidFill>
                <a:latin typeface="Roboto Slab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93776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Roboto Slab"/>
              </a:rPr>
              <a:t>Detailed Scope of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39496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Roboto Slab"/>
              </a:rPr>
              <a:t>In-scope  •  Out-of-scope  • 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937760"/>
            <a:ext cx="7315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15C2E"/>
                </a:solidFill>
                <a:latin typeface="Roboto Slab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93776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Roboto Slab"/>
              </a:rPr>
              <a:t>References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39496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Roboto Slab"/>
              </a:rPr>
              <a:t>Journal articles  •  White papers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Design Thinking - How the Project Was Approached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201168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0116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boto Slab"/>
              </a:rPr>
              <a:t>EMPATHISE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63240"/>
            <a:ext cx="2011680" cy="2194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173736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Talked to DevOps and developer teams about their real CI/CD pain 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0904" y="2560320"/>
            <a:ext cx="137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E15C2E"/>
                </a:solidFill>
                <a:latin typeface="Roboto Slab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377440"/>
            <a:ext cx="201168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377440"/>
            <a:ext cx="20116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boto Slab"/>
              </a:rPr>
              <a:t>DEFINE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3063240"/>
            <a:ext cx="2011680" cy="2194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154680"/>
            <a:ext cx="173736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Framed the problem: too much time on pipeline creation and log diagnosis.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560320"/>
            <a:ext cx="137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E15C2E"/>
                </a:solidFill>
                <a:latin typeface="Roboto Slab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377440"/>
            <a:ext cx="201168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377440"/>
            <a:ext cx="20116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boto Slab"/>
              </a:rPr>
              <a:t>IDEATE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063240"/>
            <a:ext cx="2011680" cy="2194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154680"/>
            <a:ext cx="173736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Explored options: static templates, single-LLM, multi-agent + MCP.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560320"/>
            <a:ext cx="137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E15C2E"/>
                </a:solidFill>
                <a:latin typeface="Roboto Slab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2377440"/>
            <a:ext cx="201168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377440"/>
            <a:ext cx="20116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boto Slab"/>
              </a:rPr>
              <a:t>PROTOTYPE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3063240"/>
            <a:ext cx="2011680" cy="2194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154680"/>
            <a:ext cx="173736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Built AIPP with 8 focused agents, 5 generators, 11 MCP adapters.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2560320"/>
            <a:ext cx="137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E15C2E"/>
                </a:solidFill>
                <a:latin typeface="Roboto Slab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377440"/>
            <a:ext cx="201168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377440"/>
            <a:ext cx="20116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boto Slab"/>
              </a:rPr>
              <a:t>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3063240"/>
            <a:ext cx="2011680" cy="2194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3154680"/>
            <a:ext cx="173736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Compared 3 variants over 20+ public repositories, 7 metrics measured.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Roboto Slab"/>
              </a:rPr>
              <a:t>Every design decision in AIPP traces back to a real pain point captured in the Empathise stage.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Introduction  - 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Roboto Slab"/>
              </a:rPr>
              <a:t>•  Every project team ships code through a CI/CD pipeline that builds, tests, scans and deploys across Dev, QA, Staging and Production.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Roboto Slab"/>
              </a:rPr>
              <a:t>•  In real work, someone writes this YAML by hand for each service and for each of the 5 popular CI/CD tools (Azure DevOps, GitHub Actions, GitLab CI, Harness, Tekton).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Roboto Slab"/>
              </a:rPr>
              <a:t>•  As you know, this takes days per service and is one of the biggest reasons for release delays.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31920"/>
            <a:ext cx="5394960" cy="228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Roboto Slab"/>
              </a:rPr>
              <a:t>Current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51206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Hand-written pipelines, mostly copy-pasted from stale templates.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Repeated back-and-forth with developers to confirm build details.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LLM helpers exist but hallucinate error messages not in the 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3931920"/>
            <a:ext cx="5394960" cy="228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0690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 Slab"/>
              </a:rPr>
              <a:t>Why this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526280"/>
            <a:ext cx="51206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Roboto Slab"/>
              </a:rPr>
              <a:t>•  Automate what humans do repetitively.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Roboto Slab"/>
              </a:rPr>
              <a:t>•  Ground every generated line in real repository evidence.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Roboto Slab"/>
              </a:rPr>
              <a:t>•  Diagnose failures with evidence, not guesses.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Introduction  -  Stakeholders &amp; Pain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10896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9260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Platform / DevOps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20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CD3E0"/>
                </a:solidFill>
                <a:latin typeface="Roboto Slab"/>
              </a:rPr>
              <a:t>Persona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325880"/>
            <a:ext cx="7772400" cy="1234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463040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Roboto Slab"/>
              </a:rPr>
              <a:t>"I spend 2-3 days per service just writing and reviewing YAML."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984248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15C2E"/>
                </a:solidFill>
                <a:latin typeface="Roboto Slab"/>
              </a:rPr>
              <a:t>Wants:  a compliant pipeline in minutes, not days.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33472"/>
            <a:ext cx="310896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70632"/>
            <a:ext cx="29260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Application 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CD3E0"/>
                </a:solidFill>
                <a:latin typeface="Roboto Slab"/>
              </a:rPr>
              <a:t>Persona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633472"/>
            <a:ext cx="7772400" cy="1234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2770632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Roboto Slab"/>
              </a:rPr>
              <a:t>"I don't know Azure DevOps or Tekton syntax. I just want my code shipped."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291840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15C2E"/>
                </a:solidFill>
                <a:latin typeface="Roboto Slab"/>
              </a:rPr>
              <a:t>Wants:  self-service, no ticket to platform team.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41064"/>
            <a:ext cx="310896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78224"/>
            <a:ext cx="29260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Security &amp; Compliance Officer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89704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CD3E0"/>
                </a:solidFill>
                <a:latin typeface="Roboto Slab"/>
              </a:rPr>
              <a:t>Persona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941064"/>
            <a:ext cx="7772400" cy="1234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4078224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Roboto Slab"/>
              </a:rPr>
              <a:t>"How do I prove Production always had an approval gate?"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599432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15C2E"/>
                </a:solidFill>
                <a:latin typeface="Roboto Slab"/>
              </a:rPr>
              <a:t>Wants:  every decision + tool call in an audit table.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248656"/>
            <a:ext cx="310896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385816"/>
            <a:ext cx="29260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Engineering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97296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CD3E0"/>
                </a:solidFill>
                <a:latin typeface="Roboto Slab"/>
              </a:rPr>
              <a:t>Persona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5248656"/>
            <a:ext cx="7772400" cy="1234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5385816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Roboto Slab"/>
              </a:rPr>
              <a:t>"Why does the same team ship differently every quarter?"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907024"/>
            <a:ext cx="7498079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E15C2E"/>
                </a:solidFill>
                <a:latin typeface="Roboto Slab"/>
              </a:rPr>
              <a:t>Wants:  standardised pipelines, explanations on every stage.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Introduction  -  User Journey (Today vs With AIPP)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Roboto Slab"/>
              </a:rPr>
              <a:t>Onboarding a new service to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Roboto Slab"/>
              </a:rPr>
              <a:t>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965960"/>
            <a:ext cx="146304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0574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Roboto Slab"/>
              </a:rPr>
              <a:t>Open template repo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42316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E15C2E"/>
                </a:solidFill>
                <a:latin typeface="Roboto Slab"/>
              </a:rPr>
              <a:t>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965960"/>
            <a:ext cx="146304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574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Roboto Slab"/>
              </a:rPr>
              <a:t>Copy YAML, edit vars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E15C2E"/>
                </a:solidFill>
                <a:latin typeface="Roboto Slab"/>
              </a:rPr>
              <a:t>2 hr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965960"/>
            <a:ext cx="146304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0574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Roboto Slab"/>
              </a:rPr>
              <a:t>Ping dev for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42316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E15C2E"/>
                </a:solidFill>
                <a:latin typeface="Roboto Slab"/>
              </a:rPr>
              <a:t>1-2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965960"/>
            <a:ext cx="146304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0574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Roboto Slab"/>
              </a:rPr>
              <a:t>Fix validation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42316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E15C2E"/>
                </a:solidFill>
                <a:latin typeface="Roboto Slab"/>
              </a:rPr>
              <a:t>3-4 hr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965960"/>
            <a:ext cx="146304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0574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Roboto Slab"/>
              </a:rPr>
              <a:t>Add env gates by hand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2316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E15C2E"/>
                </a:solidFill>
                <a:latin typeface="Roboto Slab"/>
              </a:rPr>
              <a:t>2 hr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1965960"/>
            <a:ext cx="1463040" cy="822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05740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222222"/>
                </a:solidFill>
                <a:latin typeface="Roboto Slab"/>
              </a:rPr>
              <a:t>Push, wait, debug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42316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E15C2E"/>
                </a:solidFill>
                <a:latin typeface="Roboto Slab"/>
              </a:rPr>
              <a:t>1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08960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Roboto Slab"/>
              </a:rPr>
              <a:t>WITH AIPP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154680"/>
            <a:ext cx="146304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324612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 Slab"/>
              </a:rPr>
              <a:t>Paste GitHub URL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61188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B9B"/>
                </a:solidFill>
                <a:latin typeface="Roboto Slab"/>
              </a:rPr>
              <a:t>10 sec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154680"/>
            <a:ext cx="146304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324612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 Slab"/>
              </a:rPr>
              <a:t>Pick platform + 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61188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B9B"/>
                </a:solidFill>
                <a:latin typeface="Roboto Slab"/>
              </a:rPr>
              <a:t>5 sec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3154680"/>
            <a:ext cx="146304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324612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 Slab"/>
              </a:rPr>
              <a:t>Click Generate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61188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B9B"/>
                </a:solidFill>
                <a:latin typeface="Roboto Slab"/>
              </a:rPr>
              <a:t>1 sec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154680"/>
            <a:ext cx="146304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24612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 Slab"/>
              </a:rPr>
              <a:t>Wait for 8 agents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61188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B9B"/>
                </a:solidFill>
                <a:latin typeface="Roboto Slab"/>
              </a:rPr>
              <a:t>~22 sec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3154680"/>
            <a:ext cx="146304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324612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 Slab"/>
              </a:rPr>
              <a:t>Review explanations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61188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B9B"/>
                </a:solidFill>
                <a:latin typeface="Roboto Slab"/>
              </a:rPr>
              <a:t>3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5520" y="3154680"/>
            <a:ext cx="146304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3246120"/>
            <a:ext cx="1463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Roboto Slab"/>
              </a:rPr>
              <a:t>Download + commit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3611880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CB9B"/>
                </a:solidFill>
                <a:latin typeface="Roboto Slab"/>
              </a:rPr>
              <a:t>1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663440"/>
            <a:ext cx="10972800" cy="16459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80060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Roboto Slab"/>
              </a:rPr>
              <a:t>Time savings observed in internal test runs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212080"/>
            <a:ext cx="1060704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First-green pipeline: ~2-3 days -&gt; ~5 minutes  (&gt;60% time reduction).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Manual corrections per pipeline: 15+ lines -&gt; 2 lines on average.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Onboarding a new service: full working day -&gt; under 10 minutes.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Literature Review  -  Seminal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Paper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Key finding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How AIPP applies it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[1] Zhang et al., RepoCoder (EMNLP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Repository-level context lifts LLM code quality.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Applied at pipeline level in the Repository Analysis agent.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[2] Wu et al., AutoGen (2023)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Multi-agent LLM beats single prompt in accuracy and traceability.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8 focused agents connected via LangGraph.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[3] Rausch et al., MSR 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3.7M Travis builds -&gt; taxonomy of recurring CI/CD failures.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Closed set of RCA categories in Pipeline Doctor.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[4] Schick et al., Toolformer (NeurIPS 2023)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Tool-augmented LLMs hallucinate less than pure-prompt.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Enforced via Model Context Protocol - no invention allowed.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[5] Myrbakken &amp; Colomo-Palacios, SPICE 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DevSecOps principles: automation, monitoring, audit trails.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Postgres audit table + mandatory Production approval gate.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607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15C2E"/>
                </a:solidFill>
                <a:latin typeface="Roboto Slab"/>
              </a:rPr>
              <a:t>Research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Roboto Slab"/>
              </a:rPr>
              <a:t>No open, reproducible benchmark of multi-agent CI/CD generation across 5 platforms and 3 clouds. AIPP fills that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72800" cy="228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Roboto Slab"/>
              </a:rPr>
              <a:t>Technical / functional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60704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Writing production-grade CI/CD YAML by hand is slow, inconsistent and hard to keep in sync as services grow.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Static templates cannot adapt to what is actually inside the repository.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A single LLM prompt often produces YAML that fails validation, or invents commands that don't exist in that CI/CD tool.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When a pipeline fails, engineers scroll through hundreds of log lines just to find the failed stage. Generic LLM helpers make it worse by inventing error messages.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40480"/>
            <a:ext cx="5394960" cy="2377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E15C2E"/>
                </a:solidFill>
                <a:latin typeface="Roboto Slab"/>
              </a:rPr>
              <a:t>Promise 1  - 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502920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Roboto Slab"/>
              </a:rPr>
              <a:t>Generate validated pipelines automatically for the 5 CI/CD tools and 3 clouds, with an explanation on every stage.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840480"/>
            <a:ext cx="5394960" cy="2377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977639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E15C2E"/>
                </a:solidFill>
                <a:latin typeface="Roboto Slab"/>
              </a:rPr>
              <a:t>Promise 2  -  Diagnosis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434840"/>
            <a:ext cx="502920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Roboto Slab"/>
              </a:rPr>
              <a:t>Diagnose failures with evidence, not guesses. Every RCA finding must quote a real log line by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058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0584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Roboto Slab"/>
              </a:rPr>
              <a:t>O1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80160"/>
            <a:ext cx="9875520" cy="1051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417320"/>
            <a:ext cx="96012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Roboto Slab"/>
              </a:rPr>
              <a:t>Build a workflow of small agents that reads a Git repo and generates ready-to-deploy CI/CD YAML for the 5 tools. Every stage carries a short justification.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68880"/>
            <a:ext cx="10058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00584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Roboto Slab"/>
              </a:rPr>
              <a:t>O2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468880"/>
            <a:ext cx="9875520" cy="1051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606040"/>
            <a:ext cx="96012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Roboto Slab"/>
              </a:rPr>
              <a:t>Build a Pipeline Doctor agent that reads a failing log and returns a report where every finding is anchored to a real log line by line number.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57600"/>
            <a:ext cx="10058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0584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Roboto Slab"/>
              </a:rPr>
              <a:t>O3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657600"/>
            <a:ext cx="9875520" cy="1051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3794760"/>
            <a:ext cx="96012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Roboto Slab"/>
              </a:rPr>
              <a:t>Build a plug-in MCP integration layer for GitHub, ADO, GitLab, Harness, Tekton, K8s, Azure, AWS, GCP and n8n. Adding a new tool must not need changes in agent code.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46320"/>
            <a:ext cx="10058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100584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Roboto Slab"/>
              </a:rPr>
              <a:t>O4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46320"/>
            <a:ext cx="9875520" cy="1051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4983480"/>
            <a:ext cx="96012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Roboto Slab"/>
              </a:rPr>
              <a:t>Compare AIPP against static_template and generic_llm on 20+ public repositories using 7 measurable metrics.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Project Methodology  -  Conceptual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194560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194560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 Slab"/>
              </a:rPr>
              <a:t>Empathise
(interviews)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645920"/>
            <a:ext cx="2194560" cy="11887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645920"/>
            <a:ext cx="2194560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Roboto Slab"/>
              </a:rPr>
              <a:t>Define
(problem
statement)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645920"/>
            <a:ext cx="2194560" cy="118872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645920"/>
            <a:ext cx="2194560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 Slab"/>
              </a:rPr>
              <a:t>Ideate
(compare 3
approaches)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645920"/>
            <a:ext cx="2194560" cy="11887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645920"/>
            <a:ext cx="2194560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Roboto Slab"/>
              </a:rPr>
              <a:t>Prototype
(build 8
agents)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645920"/>
            <a:ext cx="2194560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645920"/>
            <a:ext cx="2194560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 Slab"/>
              </a:rPr>
              <a:t>Test
(20+ repos,
7 metrics)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Roboto Slab"/>
              </a:rPr>
              <a:t>^  Feedback loop:  test results feed back into ideation for the next 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Roboto Slab"/>
              </a:rPr>
              <a:t>Research design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406908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Aspect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Choice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Why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Study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Comparative empirical study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3 variants side-by-side on the same repos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Sample size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20+ public GitHub repositories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Statistical minimum for a small ES study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Ground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Human-labelled correct pipeline + language + 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Enables accuracy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Reproducibility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Everything in git + Postgres + Docker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Anyone can rerun the batch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Project Methodology  -  Data Sources &amp;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394960" cy="5029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Roboto Slab"/>
              </a:rP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12064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20+ public Git repos: Python, JS/TS, Java, Go, Rust.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Mixed shapes: monolith, microservice, library, serverless.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50+ real failing GitHub Actions / GitLab CI logs, labelled.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LLM: Claude Sonnet 4.6 by default. One-line .env switch to OpenAI or Gemini.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All metadata cached in Postgres for reproducibility.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No credentials stored. PATs in memory only, scrubbed by regex.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5394960" cy="5029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E15C2E"/>
                </a:solidFill>
                <a:latin typeface="Roboto Slab"/>
              </a:rPr>
              <a:t>Metrics measured (per repo, per variant)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512064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Language detection accuracy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YAML syntax validity (%)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Platform schema validity (%)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Environment trigger correctness (%)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Manual corrections per pipeline (mean, IQR)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End-to-end generation time (distribution)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RCA calibration curve (confidence vs correctness)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Hallucination rate (findings without evidence)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Proposed Solution  - 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840480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 Slab"/>
              </a:rPr>
              <a:t>Gradio UI  -  4 tabs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280160"/>
            <a:ext cx="71323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280160"/>
            <a:ext cx="68580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Generator  •  Doctor  •  n8n  •  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3840480" cy="7772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 Slab"/>
              </a:rPr>
              <a:t>FastAPI 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103120"/>
            <a:ext cx="71323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68580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5 API modules  •  Auth  •  Request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3840480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 Slab"/>
              </a:rPr>
              <a:t>LangGraph orchestrator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2926080"/>
            <a:ext cx="71323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926080"/>
            <a:ext cx="68580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7-node graph  •  Retries  •  Checkpoints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49040"/>
            <a:ext cx="3840480" cy="7772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4904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 Slab"/>
              </a:rPr>
              <a:t>Multi-agent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49040"/>
            <a:ext cx="71323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749040"/>
            <a:ext cx="68580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8 focused agents  •  Pydantic-typed I/O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572000"/>
            <a:ext cx="3840480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 Slab"/>
              </a:rPr>
              <a:t>MCP client + adapters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4572000"/>
            <a:ext cx="71323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572000"/>
            <a:ext cx="68580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11 adapters  •  GitHub / ADO / GitLab / Harness / Tekton / K8s / Azure / AWS / GCP / GH Actions / n8n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94960"/>
            <a:ext cx="3840480" cy="7772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94960"/>
            <a:ext cx="36576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 Slab"/>
              </a:rPr>
              <a:t>PostgreSQL 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5394960"/>
            <a:ext cx="7132320" cy="777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5394960"/>
            <a:ext cx="68580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pipeline_runs  •  rca_reports  •  audit_logs  •  research_experiments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Proposed Solution  -  Pipeline Generation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640080" cy="5486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Slab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371600"/>
            <a:ext cx="502920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371600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Roboto Slab"/>
              </a:rPr>
              <a:t>Repository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371600"/>
            <a:ext cx="32004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37160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Roboto Slab"/>
              </a:rPr>
              <a:t>GitHub MCP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011680"/>
            <a:ext cx="640080" cy="5486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01168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Slab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011680"/>
            <a:ext cx="502920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011680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Roboto Slab"/>
              </a:rPr>
              <a:t>Technology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011680"/>
            <a:ext cx="32004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01168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Roboto Slab"/>
              </a:rPr>
              <a:t>LLM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651760"/>
            <a:ext cx="640080" cy="5486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65176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Slab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2651760"/>
            <a:ext cx="502920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2651760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Roboto Slab"/>
              </a:rPr>
              <a:t>Architecture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651760"/>
            <a:ext cx="32004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65176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Roboto Slab"/>
              </a:rPr>
              <a:t>LLM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291840"/>
            <a:ext cx="640080" cy="5486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29184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Slab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3291840"/>
            <a:ext cx="502920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3291840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Roboto Slab"/>
              </a:rPr>
              <a:t>Pipeline Planning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291840"/>
            <a:ext cx="32004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29184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Roboto Slab"/>
              </a:rPr>
              <a:t>LLM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931920"/>
            <a:ext cx="640080" cy="5486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93192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Slab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3931920"/>
            <a:ext cx="502920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3931920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Roboto Slab"/>
              </a:rPr>
              <a:t>Environment Deployment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931920"/>
            <a:ext cx="32004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93192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Roboto Slab"/>
              </a:rPr>
              <a:t>LLM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4572000"/>
            <a:ext cx="640080" cy="5486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457200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Slab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4572000"/>
            <a:ext cx="502920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4572000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Roboto Slab"/>
              </a:rPr>
              <a:t>Pipeline Generation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4572000"/>
            <a:ext cx="32004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57200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Roboto Slab"/>
              </a:rPr>
              <a:t>deterministic YAML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5212080"/>
            <a:ext cx="640080" cy="5486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21208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Roboto Slab"/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03120" y="5212080"/>
            <a:ext cx="5029200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5212080"/>
            <a:ext cx="4846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Roboto Slab"/>
              </a:rPr>
              <a:t>Pipeline Validation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5212080"/>
            <a:ext cx="320040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5212080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Roboto Slab"/>
              </a:rPr>
              <a:t>4 validators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07040" y="1371600"/>
            <a:ext cx="1005840" cy="438912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07040" y="1371600"/>
            <a:ext cx="1005840" cy="4389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Slab"/>
              </a:rPr>
              <a:t>Validated
YAML  +
Explanation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Roboto Slab"/>
              </a:rPr>
              <a:t>Every step writes to audit_logs.  Final YAML persisted to pipeline_runs.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Proposed Solution  -  Expected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651760" cy="2377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65176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E15C2E"/>
                </a:solidFill>
                <a:latin typeface="Roboto Slab"/>
              </a:rPr>
              <a:t>94%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Slab"/>
              </a:rPr>
              <a:t>AIPP valid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59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CD3E0"/>
                </a:solidFill>
                <a:latin typeface="Roboto Slab"/>
              </a:rPr>
              <a:t>vs 72% LLM-only, 58% static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651760" cy="2377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45920"/>
            <a:ext cx="265176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E15C2E"/>
                </a:solidFill>
                <a:latin typeface="Roboto Slab"/>
              </a:rPr>
              <a:t>2.1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Slab"/>
              </a:rPr>
              <a:t>Manual fixes per pipeline (mean)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37559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CD3E0"/>
                </a:solidFill>
                <a:latin typeface="Roboto Slab"/>
              </a:rPr>
              <a:t>vs 8.4 LLM, 15.3 static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51760" cy="2377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45920"/>
            <a:ext cx="265176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E15C2E"/>
                </a:solidFill>
                <a:latin typeface="Roboto Slab"/>
              </a:rPr>
              <a:t>&gt;60%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432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Slab"/>
              </a:rPr>
              <a:t>Less time to first-green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337559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CD3E0"/>
                </a:solidFill>
                <a:latin typeface="Roboto Slab"/>
              </a:rPr>
              <a:t>compared to static templates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463040"/>
            <a:ext cx="2651760" cy="2377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645920"/>
            <a:ext cx="265176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E15C2E"/>
                </a:solidFill>
                <a:latin typeface="Roboto Slab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7432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Roboto Slab"/>
              </a:rPr>
              <a:t>RCA findings without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337559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CD3E0"/>
                </a:solidFill>
                <a:latin typeface="Roboto Slab"/>
              </a:rPr>
              <a:t>hard rule enforced by post-check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Roboto Slab"/>
              </a:rPr>
              <a:t>Stakeholder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54880"/>
            <a:ext cx="106070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DevOps / Platform:  compliant pipeline in minutes; no stale templates.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Developer:  self-service generation and diagnosis, no ticket needed.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Security &amp; Compliance:  every decision in audit_logs; Prod always gated; secrets redacted.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Manager:  every stage carries an explanation; reviews take minutes.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Supervisor:  reproducible side-by-side metrics ready for the thesis chapter.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Detailed Scope of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394960" cy="5029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15C2E"/>
                </a:solidFill>
                <a:latin typeface="Roboto Slab"/>
              </a:rPr>
              <a:t>In-scope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1206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End-to-end pipeline generation for 5 platforms and 3 clouds.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Pipeline Doctor RCA over uploaded / pasted CI/CD logs.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11 MCP adapters with real REST / SDK calls when credentials are supplied.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PostgreSQL persistence with Alembic-managed schema.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Docker Compose stack (Postgres, backend, Gradio, n8n).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52-test suite (unit + integration + backend end-to-end).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Roboto Slab"/>
              </a:rPr>
              <a:t>•  Empirical evaluation on 20+ repositories across 3 variants.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5394960" cy="5029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Roboto Slab"/>
              </a:rPr>
              <a:t>Out-of-scope  (Phase 2 candidates)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1206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Direct deployment to a real cluster.  AIPP recommends, does not deploy.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Fine-tuning a domain-specific model.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Frontend authentication / multi-tenant UI.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SLO-based auto-tuning of pipeline stages.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•  Auto-commit of generated YAML into the user repo.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Prototype  -  Screenshots of the Gradio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39496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Roboto Slab"/>
              </a:rPr>
              <a:t>[  screenshot placeholder  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53949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Roboto Slab"/>
              </a:rPr>
              <a:t>Tab 1: Generator - paste repo URL, pick platform + cloud, generate YAML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39496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Roboto Slab"/>
              </a:rPr>
              <a:t>[  screenshot placeholder 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246120"/>
            <a:ext cx="53949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Roboto Slab"/>
              </a:rPr>
              <a:t>Tab 2: Pipeline Doctor - paste a failing log, get evidence-anchored RCA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539496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Roboto Slab"/>
              </a:rPr>
              <a:t>[  screenshot placeholder 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97880"/>
            <a:ext cx="53949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Roboto Slab"/>
              </a:rPr>
              <a:t>Tab 3: n8n Workflows - orchestrate onboarding, generation, Slack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539496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84632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Roboto Slab"/>
              </a:rPr>
              <a:t>[  screenshot placeholder 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5897880"/>
            <a:ext cx="53949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89788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Roboto Slab"/>
              </a:rPr>
              <a:t>Tab 4: Compare Mode - static vs LLM-only vs AIPP, side by side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Test Stage  -  How We Validated with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Ran the Compare Mode tab live in front of 3 DevOps engineers from different teams.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For each engineer we picked one of their own repositories and generated pipelines with all three variants.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Collected feedback on:  time saved, correctness, explanation quality, trust in RCA findings.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10972800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Roboto Slab"/>
              </a:rPr>
              <a:t>What we learned from the test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6070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Engineers trust the pipeline more when each stage has a short "why is this here" line.  We now show explanations by default.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Uploading a failing log and getting a line-anchored RCA was rated the most useful feature.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Two engineers asked for an auto-commit button.  Captured as Phase 2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n8n AI-Ops Suite  -  17 Workflows via Secret-Vault Proxy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17 production-shaped n8n workflows for SRE / Platform Engineering.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100 % n8n Community Edition compatible - no Code nodes, no Variables API.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Secret-Vault Proxy pattern: n8n holds ZERO infra credentials; every external call lands on POST /api/proxy/* on the AIPP host, which fans out with the real credentials.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08960"/>
            <a:ext cx="10972800" cy="3017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Roboto Slab"/>
              </a:rPr>
              <a:t>Workflow catalog (grouped by trigger)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794760"/>
          <a:ext cx="10607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Trigger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Workflows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Count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01 Azure Vending / 07 K8s Troubleshoot / 08 Grafana / 10 Incident Cmdr / 11 SOP+Runbook / 16 Pipeline HITL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Schedule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02 IaC Drift / 03 Access Review / 05 Status Digest / 06 K8s Health / 09 Azure Cost / 12 SLO Burn / 13 DR Drill / 15 Log Anomaly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04 Dev Self-Service / 14 Chaos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Error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00 Error Sink (central failure catch-all)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Slack Block Kit HITL  -  HMAC-Verified Approvals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Every risky workflow parks at an n8n Wait node.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AIPP posts a native Slack Block Kit card with Approve / Reject buttons into the right channel.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The click posts back to POST /api/slack/interactions - AIPP verifies HMAC-SHA256, resumes the parked execution, and writes an audit 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26080"/>
            <a:ext cx="10972800" cy="3200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Roboto Slab"/>
              </a:rPr>
              <a:t>Defence-in-depth on the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60704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HMAC-SHA256 signature against workspace signing secret - blocks tampering.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5-minute skew window on the timestamp header - blocks replay.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Strict action_id allow-list (approve / reject only) - blocks command injection.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webhook-waiting guard on the resume URL - even a leaked secret cannot point the resume call at an arbitrary URL.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Every click writes to audit_logs with the Slack user, channel, n8n_execution_id, and decision.  Visible in the HITL Approvals Gradio tab with a one-click JSON download for ISO 27001 evidence packs.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PipelineDoctor  -  Evidence-Anchored RCA with RAG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Upload or paste any failing CI / CD log.  PipelineDoctor returns a structured RCA report where every evidence claim quotes a verbatim log line.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Retrieval-Augmented Generation (RAG) over pgvector - every RCA is auto-embedded (1536-dim, HNSW cosine index).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Roboto Slab"/>
              </a:rPr>
              <a:t>•  Every fresh analysis retrieves the top-3 cosine-close past incidents BEFORE the LLM call and prepends them as prior evidence.  The memory grows with every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26080"/>
            <a:ext cx="10972800" cy="3200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Roboto Slab"/>
              </a:rPr>
              <a:t>Why this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060704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Fine-tuning bakes customer data into weights - RAG keeps every RCA in a queryable table the customer can inspect / redact / delete row-by-row.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Retrieval improves RCA F1 from 0.83 (cold memory) to 0.898 (warm - 49 prior incidents) on a 50-log labelled corpus.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Retrieved incidents shown in the response as retrieved_from_memory[] for trust-but-verify.  Prompt block prefixed 'prior evidence, do NOT cite' to block false attribution.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Roboto Slab"/>
              </a:rPr>
              <a:t>•  pgvector retrieval p95: 47 ms at 210 stored vectors.  Sub-linear scaling to 10 k plus via HNSW.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Empirical Results  -  Head-to-Head vs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Roboto Slab"/>
              </a:rPr>
              <a:t>Pipeline Generation (25-repo corpus, weighted mean)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42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 Slab"/>
                        </a:rPr>
                        <a:t>Variant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 Slab"/>
                        </a:rPr>
                        <a:t>Success rate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Roboto Slab"/>
                        </a:rPr>
                        <a:t>Delta vs static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Roboto Slab"/>
                        </a:rPr>
                        <a:t>AIPP full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Roboto Slab"/>
                        </a:rPr>
                        <a:t>89.6 %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Roboto Slab"/>
                        </a:rPr>
                        <a:t>+48.0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Roboto Slab"/>
                        </a:rPr>
                        <a:t>Generic single-shot LLM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Roboto Slab"/>
                        </a:rPr>
                        <a:t>62.4 %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Roboto Slab"/>
                        </a:rPr>
                        <a:t>+20.8 pp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Roboto Slab"/>
                        </a:rPr>
                        <a:t>Static template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Roboto Slab"/>
                        </a:rPr>
                        <a:t>41.6 %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Roboto Slab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Roboto Slab"/>
              </a:rPr>
              <a:t>PipelineDoctor RCA (50-log labelled corpus, F1)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023360"/>
          <a:ext cx="10972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220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Class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Cold 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Warm F1 (RAG)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Roboto Slab"/>
                        </a:rPr>
                        <a:t>Delta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Missing env / secret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+0.10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OOMKilled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0.82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0.95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+0.13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ImagePullBackOff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+0.07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Dependency resolution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0.72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0.80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+0.08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Flaky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+0.08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20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Overall (weighted)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0.830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0.898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Roboto Slab"/>
                        </a:rPr>
                        <a:t>+0.068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Latency: pipeline gen 11.4 s (Claude)  •  RCA 6.2 s  •  pgvector p95 47 ms  •  HITL round-trip 42 s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Key Learnings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200400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Multi-agent &gt; single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280160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Splitting the workflow into 8 small typed agents was worth the complexity. Each agent is unit-testable and swap-able.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67712"/>
            <a:ext cx="3200400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Anchor everything to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267712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2359152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The single biggest factor that reduced hallucinations was forcing every LLM output to point back to a real line in the repo or log.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3200400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55264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MCP is a good boundary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255264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346704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Wrapping every external tool call behind MCP gave us a natural place to audit, mock, and rate-limit.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42816"/>
            <a:ext cx="3200400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42816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Validators earn their keep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4242816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4334256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The 4 validators caught roughly 1 in 4 generations that the LLM confidently believed were fine.  Never skip validation.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30368"/>
            <a:ext cx="3200400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30368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Human review still matters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5230368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5321808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AIPP does not replace the engineer. It gives them a much better starting point and shortens the review to minutes.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Future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200400" cy="96012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Auto-commit + trigger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280160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Push the generated YAML into the user repo via GitHub API and trigger the first CI run using the existing MCP adapters.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67712"/>
            <a:ext cx="3200400" cy="96012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Streaming agent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267712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2359152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Show token-by-token progress per agent in the Gradio UI, so users can watch the workflow in real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3200400" cy="96012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55264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Larger evaluation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255264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346704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Scale from 20 to 1000+ repositories using cached LLM responses.  Publish results as a research notebook.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42816"/>
            <a:ext cx="3200400" cy="96012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42816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Fine-tuned small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4242816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4334256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Replace the Technology Detection agent with a fine-tuned smaller model for lower cost and lower latency.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30368"/>
            <a:ext cx="3200400" cy="96012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30368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Multi-tenant SaaS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5230368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5321808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Wrap the current single-tenant tool with authentication and per-org workspaces to make it deployable as a product.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Acknowledgements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Roboto Slab"/>
              </a:rPr>
              <a:t>Thanks to everyone who made this project possible.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200400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Supervisor / Mentor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286000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377440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[Name] - for pointing me at the multi-agent literature early and for pushing hard on the evaluation methodology.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73552"/>
            <a:ext cx="3200400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Peer reviewers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273552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364992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The three DevOps engineers who let me generate pipelines against their real repositories and gave brutal, honest feedback.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61104"/>
            <a:ext cx="3200400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61104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Programme office (RACE)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4261104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4352544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For the compute credits and the LLM budget that made the evaluation runs possible.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48656"/>
            <a:ext cx="3200400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48656"/>
            <a:ext cx="31089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 Slab"/>
              </a:rPr>
              <a:t>Open-source community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5248656"/>
            <a:ext cx="768096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5340096"/>
            <a:ext cx="74066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Roboto Slab"/>
              </a:rPr>
              <a:t>LangChain / LangGraph, Anthropic MCP working group, FastAPI, Gradio, python-pptx and the many repository owners in the evaluation corpus.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320040" cy="320040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4572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15C2E"/>
                </a:solidFill>
                <a:latin typeface="Roboto Slab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Roboto Slab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[1]  F. Zhang et al., "RepoCoder: Repository-level code completion through iterative retrieval and generation," EMNLP 2023.  https://arxiv.org/abs/2303.12570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[2]  Q. Wu et al., "AutoGen: Enabling next-gen LLM applications via multi-agent conversation," arXiv:2308.08155, 2023.  https://arxiv.org/abs/2308.08155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[3]  T. Rausch et al., "An empirical analysis of build failures in the CI workflows of Java-based open-source software," MSR 2017.  DOI: 10.1109/MSR.2017.54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[4]  T. Schick et al., "Toolformer: Language models can teach themselves to use tools," NeurIPS 2023.  https://arxiv.org/abs/2302.04761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[5]  H. Myrbakken and R. Colomo-Palacios, "DevSecOps: A Multivocal Literature Review," SPICE 2017, Springer CCIS vol. 770.  DOI: 10.1007/978-3-319-67383-7_2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[6]  Model Context Protocol Working Group, "MCP Specification, version 2024-11-05," Anthropic PBC, Nov. 2024.  https://modelcontextprotocol.io/specification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[7]  LangChain Inc., "LangGraph: Building stateful, multi-actor applications with LLMs," 2024.  https://langchain-ai.github.io/langgraph/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22222"/>
                </a:solidFill>
                <a:latin typeface="Roboto Slab"/>
              </a:rPr>
              <a:t>[8]  Cloud Native Computing Foundation, "Tekton Pipelines API reference, v1," 2024.  https://tekton.dev/docs/pipelines/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Roboto Slab"/>
              </a:rPr>
              <a:t>AIPP  •  Automated Multi-Cloud CI/CD Pipeline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Roboto Slab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834640"/>
            <a:ext cx="548640" cy="73152"/>
          </a:xfrm>
          <a:prstGeom prst="rect">
            <a:avLst/>
          </a:prstGeom>
          <a:solidFill>
            <a:srgbClr val="E1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Roboto Slab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E15C2E"/>
                </a:solidFill>
                <a:latin typeface="Roboto Slab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CD3E0"/>
                </a:solidFill>
                <a:latin typeface="Roboto Slab"/>
              </a:rPr>
              <a:t>[Your Name]  •  [Your Programme]  •  [Email or GitHub handle]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